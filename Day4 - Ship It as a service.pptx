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· Title. Put this up while people join. Remind everyone to run cell 0.1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· steps 1.1–1.2 · 5 min. Poll topic first, recap, then today's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· step 2.1 ·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· step 2.2 · 4 min. One concern, one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· step 2.3 · 4 min. vLLM and batch APIs are concepts only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· step 3.1 · 4 min. Moffatt v. Air Canada, BC Civil Resolution Tribunal, Feb 14,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· step 3.2 ·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· step 3.3 ·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· step 3.4 · 3 min. Then: open the code-along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· steps 4.1–4.2 · 7 min. 4.0 rebuilds Days 1-3; 4.1 setup check; 4.2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· step 4.3 · 5 min. Type both lines live; run 4.3a.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· steps 4.4–4.6 · 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· steps 5.1–5.2 · 8 min. Say plainly: in Colab LiteLLM runs as a library; in production it's a proxy.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· steps 5.3–5.4 · 9 min. Type TODO 2; run 5.3a; then the Bob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 · steps 5.5–5.6 · 5 min. The production proxy box is what to show if you have it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 · step 6.1 ·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 · steps 6.2–6.3 · 10 min. Illustrative timings.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 · steps 7.1–7.3 · 11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 · steps 7.4–7.5 · 9 min. Numbers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 · step 8.1 · 4 min. Share the handout.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21 · steps 8.2–8.3 · 9 min. Volunteers, team advice, poll, thank the 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Ship It: Serve, Control, Observe, Evaluate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AI WORKSHOP  ·  DAY 4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Serve, control, observe and evaluate your agent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Research Paper Summarizer Agent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12848" y="3268980"/>
            <a:ext cx="283464" cy="914"/>
          </a:xfrm>
          <a:prstGeom prst="line">
            <a:avLst/>
          </a:prstGeom>
          <a:noFill/>
          <a:ln w="19050">
            <a:solidFill>
              <a:srgbClr val="C9D6E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14600" y="30175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26324F"/>
          </a:solidFill>
          <a:ln w="12700">
            <a:solidFill>
              <a:srgbClr val="3A476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460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78808" y="3268980"/>
            <a:ext cx="283464" cy="914"/>
          </a:xfrm>
          <a:prstGeom prst="line">
            <a:avLst/>
          </a:prstGeom>
          <a:noFill/>
          <a:ln w="19050">
            <a:solidFill>
              <a:srgbClr val="C9D6E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30175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26324F"/>
          </a:solidFill>
          <a:ln w="12700">
            <a:solidFill>
              <a:srgbClr val="3A476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268980"/>
            <a:ext cx="283464" cy="914"/>
          </a:xfrm>
          <a:prstGeom prst="line">
            <a:avLst/>
          </a:prstGeom>
          <a:noFill/>
          <a:ln w="19050">
            <a:solidFill>
              <a:srgbClr val="C9D6E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46520" y="30175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26324F"/>
          </a:solidFill>
          <a:ln w="12700">
            <a:solidFill>
              <a:srgbClr val="3A476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Marimuthu Kaliraj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70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9, 2026  ·  2:00 – 4:00 PM IST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days, one agent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18928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1463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719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LLM calls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3042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output, retries, budgets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32888" y="1325880"/>
            <a:ext cx="18928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97480" y="1463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697480" y="1719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retrieve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697480" y="23042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chunks, vectors, page citations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08576" y="1325880"/>
            <a:ext cx="18928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73168" y="1463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773168" y="1719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773168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safety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773168" y="23042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memory, guards, caching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684264" y="1325880"/>
            <a:ext cx="1892808" cy="1463040"/>
          </a:xfrm>
          <a:prstGeom prst="roundRect">
            <a:avLst>
              <a:gd name="adj" fmla="val 500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48856" y="1463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848856" y="1719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848856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848856" y="23042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gateway, logs, traces, evals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3337560"/>
            <a:ext cx="96926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30352" y="3410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30352" y="36576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495044" y="3337560"/>
            <a:ext cx="96926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568196" y="3410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568196" y="36576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→ service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532888" y="3337560"/>
            <a:ext cx="96926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606040" y="3410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2:17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2606040" y="36576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first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570732" y="3337560"/>
            <a:ext cx="969264" cy="868680"/>
          </a:xfrm>
          <a:prstGeom prst="roundRect">
            <a:avLst>
              <a:gd name="adj" fmla="val 8421"/>
            </a:avLst>
          </a:prstGeom>
          <a:solidFill>
            <a:srgbClr val="E3F1F0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643884" y="3410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3643884" y="36576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Serve it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608576" y="3337560"/>
            <a:ext cx="969264" cy="868680"/>
          </a:xfrm>
          <a:prstGeom prst="roundRect">
            <a:avLst>
              <a:gd name="adj" fmla="val 8421"/>
            </a:avLst>
          </a:prstGeom>
          <a:solidFill>
            <a:srgbClr val="E3F1F0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681728" y="3410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2:50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681728" y="36576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Control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646420" y="3337560"/>
            <a:ext cx="969264" cy="868680"/>
          </a:xfrm>
          <a:prstGeom prst="roundRect">
            <a:avLst>
              <a:gd name="adj" fmla="val 8421"/>
            </a:avLst>
          </a:prstGeom>
          <a:solidFill>
            <a:srgbClr val="E3F1F0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719572" y="3410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3:12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719572" y="36576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Observe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684264" y="3337560"/>
            <a:ext cx="969264" cy="868680"/>
          </a:xfrm>
          <a:prstGeom prst="roundRect">
            <a:avLst>
              <a:gd name="adj" fmla="val 8421"/>
            </a:avLst>
          </a:prstGeom>
          <a:solidFill>
            <a:srgbClr val="E3F1F0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757416" y="3410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3:27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6757416" y="36576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Evaluate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722108" y="3337560"/>
            <a:ext cx="96926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795260" y="3410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3:47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7795260" y="36576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code-along. Run cell 0.1 now if you haven't: it installs today's packages.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SERVICE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notebook to service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2918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NOTEBOOK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user: you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04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every answer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7797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breaks? Restart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552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your own key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7307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the prompt? You'll notice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886200" y="2834640"/>
            <a:ext cx="457200" cy="914"/>
          </a:xfrm>
          <a:prstGeom prst="line">
            <a:avLst/>
          </a:prstGeom>
          <a:noFill/>
          <a:ln w="19050">
            <a:solidFill>
              <a:srgbClr val="1F7A7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480560" y="1280160"/>
            <a:ext cx="4206240" cy="3154680"/>
          </a:xfrm>
          <a:prstGeom prst="roundRect">
            <a:avLst>
              <a:gd name="adj" fmla="val 2319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SERVICE, CODE MUST ANSWER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calling?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70916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upload really a PDF?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70916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is down. Now what?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0916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pays, and how much?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001000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70916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request was wrong, or slow?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3474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6.x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70916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this change make it worse?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3886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SERVICE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399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app, script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938528" y="1709928"/>
            <a:ext cx="18288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502920" y="22860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an API key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39696" y="132588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3F1F0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39696" y="1399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139696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service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21024" y="1709928"/>
            <a:ext cx="18288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185416" y="22860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calling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185416" y="26151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185416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errors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822192" y="132588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3F1F0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22192" y="1399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822192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03520" y="1709928"/>
            <a:ext cx="18288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3867912" y="22860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&amp; tools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867912" y="26151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limit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867912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check (Colab)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504688" y="132588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BF1DF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04688" y="1399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504688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986016" y="1709928"/>
            <a:ext cx="18288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5550408" y="22860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timeout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550408" y="26151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model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550408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&amp; limits (prod)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187184" y="132588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187184" y="1399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187184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7232904" y="22860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tokens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57200" y="3429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" y="3429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code still owns: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citation check and the safety guards from Day 3.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once, never twice.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retries × your retries = one failure becomes nine calls. Same for budgets, limits and logs.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SERVICE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508760"/>
            <a:ext cx="411480" cy="411480"/>
          </a:xfrm>
          <a:prstGeom prst="ellipse">
            <a:avLst/>
          </a:prstGeom>
          <a:solidFill>
            <a:srgbClr val="1F7A7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for people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03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agent answer takes seconds. Send progress as it happens.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judge speed by the first thing they see.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4.6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132588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9000" y="1508760"/>
            <a:ext cx="411480" cy="411480"/>
          </a:xfrm>
          <a:prstGeom prst="ellipse">
            <a:avLst/>
          </a:prstGeom>
          <a:solidFill>
            <a:srgbClr val="E0A2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290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workers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2103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can't serve 200 people. Run several behind a load balancer.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429000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(spend, rate counters) goes in Postgres / Redis, not memory.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42900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5.6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132588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17920" y="1508760"/>
            <a:ext cx="411480" cy="41148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76656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runs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2103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API: start here.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API: big offline jobs, cheaper.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(vLLM): open models on your GPUs, batching many users at once.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IN PRODUCTION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chatbot is wrong, you pay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399032"/>
            <a:ext cx="201168" cy="201168"/>
          </a:xfrm>
          <a:prstGeom prst="ellipse">
            <a:avLst/>
          </a:prstGeom>
          <a:solidFill>
            <a:srgbClr val="1F7A7A"/>
          </a:solidFill>
          <a:ln/>
        </p:spPr>
      </p:sp>
      <p:sp>
        <p:nvSpPr>
          <p:cNvPr id="6" name="Shape 3"/>
          <p:cNvSpPr/>
          <p:nvPr/>
        </p:nvSpPr>
        <p:spPr>
          <a:xfrm>
            <a:off x="603504" y="1618488"/>
            <a:ext cx="914" cy="548640"/>
          </a:xfrm>
          <a:prstGeom prst="line">
            <a:avLst/>
          </a:prstGeom>
          <a:noFill/>
          <a:ln w="19050">
            <a:solidFill>
              <a:srgbClr val="D7DC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325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1325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asks the airline's website chatbot about bereavement fares.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176272"/>
            <a:ext cx="201168" cy="201168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0" name="Shape 7"/>
          <p:cNvSpPr/>
          <p:nvPr/>
        </p:nvSpPr>
        <p:spPr>
          <a:xfrm>
            <a:off x="603504" y="2395728"/>
            <a:ext cx="914" cy="548640"/>
          </a:xfrm>
          <a:prstGeom prst="line">
            <a:avLst/>
          </a:prstGeom>
          <a:noFill/>
          <a:ln w="19050">
            <a:solidFill>
              <a:srgbClr val="D7DC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2103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"Book now, claim the discount within 90 days." Not the real policy.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2953512"/>
            <a:ext cx="201168" cy="201168"/>
          </a:xfrm>
          <a:prstGeom prst="ellipse">
            <a:avLst/>
          </a:prstGeom>
          <a:solidFill>
            <a:srgbClr val="1F7A7A"/>
          </a:solidFill>
          <a:ln/>
        </p:spPr>
      </p:sp>
      <p:sp>
        <p:nvSpPr>
          <p:cNvPr id="14" name="Shape 11"/>
          <p:cNvSpPr/>
          <p:nvPr/>
        </p:nvSpPr>
        <p:spPr>
          <a:xfrm>
            <a:off x="603504" y="3172968"/>
            <a:ext cx="914" cy="548640"/>
          </a:xfrm>
          <a:prstGeom prst="line">
            <a:avLst/>
          </a:prstGeom>
          <a:noFill/>
          <a:ln w="19050">
            <a:solidFill>
              <a:srgbClr val="D7DC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920240" y="2880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Refused. The airline argues the chatbot is responsible for its own words.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3730752"/>
            <a:ext cx="201168" cy="201168"/>
          </a:xfrm>
          <a:prstGeom prst="ellipse">
            <a:avLst/>
          </a:prstGeom>
          <a:solidFill>
            <a:srgbClr val="1F7A7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6868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920240" y="3657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Tribunal: the chatbot is part of your website. Airline pays about C$812.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349240" y="128016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577840" y="1463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HAVE CAUGHT IT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57784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577840" y="2103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questions with known answers, run before launch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57784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+ citations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57784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from the policy text, and cite it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577840" y="3840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conversation before the customer does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Moffatt v. Air Canada, BC Civil Resolution Tribunal, February 14, 2024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YOU TRUST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LLMOps loop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566160" y="123444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56616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657600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model, settings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2860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3504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2715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set, gate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66160" y="34290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3520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it passes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97280" y="22860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9728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2715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traces, cost, real questions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23560" y="1691640"/>
            <a:ext cx="777240" cy="548640"/>
          </a:xfrm>
          <a:prstGeom prst="line">
            <a:avLst/>
          </a:prstGeom>
          <a:noFill/>
          <a:ln w="19050">
            <a:solidFill>
              <a:srgbClr val="1F7A7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H="1">
            <a:off x="5623560" y="3200400"/>
            <a:ext cx="777240" cy="548640"/>
          </a:xfrm>
          <a:prstGeom prst="line">
            <a:avLst/>
          </a:prstGeom>
          <a:noFill/>
          <a:ln w="19050">
            <a:solidFill>
              <a:srgbClr val="1F7A7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H="1" flipV="1">
            <a:off x="2651760" y="3200400"/>
            <a:ext cx="868680" cy="548640"/>
          </a:xfrm>
          <a:prstGeom prst="line">
            <a:avLst/>
          </a:prstGeom>
          <a:noFill/>
          <a:ln w="19050">
            <a:solidFill>
              <a:srgbClr val="1F7A7A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 flipV="1">
            <a:off x="2103120" y="1691640"/>
            <a:ext cx="1417320" cy="548640"/>
          </a:xfrm>
          <a:prstGeom prst="line">
            <a:avLst/>
          </a:prstGeom>
          <a:noFill/>
          <a:ln w="19050">
            <a:solidFill>
              <a:srgbClr val="1F7A7A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45720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cases join the golden set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2743200" y="43434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or model change goes through the eval,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every code change goes through tests.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YOU TRUST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traces, metrics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line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in this request?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32588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290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time go?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132588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everything okay overall?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240280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2350008"/>
            <a:ext cx="19659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{"request_id": "d77c",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"user": "alice",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"status": 200,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"latency_ms": 2210,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"llm_calls": 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"cost_usd": 0.0004}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2286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0" y="2331720"/>
            <a:ext cx="1261872" cy="2011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429000" y="2670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llm.call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169664" y="2715768"/>
            <a:ext cx="438912" cy="201168"/>
          </a:xfrm>
          <a:prstGeom prst="rect">
            <a:avLst/>
          </a:prstGeom>
          <a:solidFill>
            <a:srgbClr val="1F7A7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429000" y="305409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36008" y="3099816"/>
            <a:ext cx="192024" cy="201168"/>
          </a:xfrm>
          <a:prstGeom prst="rect">
            <a:avLst/>
          </a:prstGeom>
          <a:solidFill>
            <a:srgbClr val="E0A23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429000" y="34381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llm.call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55464" y="3483864"/>
            <a:ext cx="493776" cy="201168"/>
          </a:xfrm>
          <a:prstGeom prst="rect">
            <a:avLst/>
          </a:prstGeom>
          <a:solidFill>
            <a:srgbClr val="1F7A7A"/>
          </a:solidFill>
          <a:ln/>
        </p:spPr>
      </p:sp>
      <p:sp>
        <p:nvSpPr>
          <p:cNvPr id="24" name="Shape 21"/>
          <p:cNvSpPr/>
          <p:nvPr/>
        </p:nvSpPr>
        <p:spPr>
          <a:xfrm>
            <a:off x="6263640" y="2651760"/>
            <a:ext cx="329184" cy="91440"/>
          </a:xfrm>
          <a:prstGeom prst="line">
            <a:avLst/>
          </a:prstGeom>
          <a:noFill/>
          <a:ln w="25400">
            <a:solidFill>
              <a:srgbClr val="1F7A7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6592824" y="2615184"/>
            <a:ext cx="329184" cy="128016"/>
          </a:xfrm>
          <a:prstGeom prst="line">
            <a:avLst/>
          </a:prstGeom>
          <a:noFill/>
          <a:ln w="25400">
            <a:solidFill>
              <a:srgbClr val="1F7A7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22008" y="2615184"/>
            <a:ext cx="329184" cy="73152"/>
          </a:xfrm>
          <a:prstGeom prst="line">
            <a:avLst/>
          </a:prstGeom>
          <a:noFill/>
          <a:ln w="25400">
            <a:solidFill>
              <a:srgbClr val="1F7A7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7251192" y="2651760"/>
            <a:ext cx="329184" cy="36576"/>
          </a:xfrm>
          <a:prstGeom prst="line">
            <a:avLst/>
          </a:prstGeom>
          <a:noFill/>
          <a:ln w="25400">
            <a:solidFill>
              <a:srgbClr val="1F7A7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580376" y="2651760"/>
            <a:ext cx="329184" cy="457200"/>
          </a:xfrm>
          <a:prstGeom prst="line">
            <a:avLst/>
          </a:prstGeom>
          <a:noFill/>
          <a:ln w="25400">
            <a:solidFill>
              <a:srgbClr val="B23A3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09560" y="3108960"/>
            <a:ext cx="329184" cy="91440"/>
          </a:xfrm>
          <a:prstGeom prst="line">
            <a:avLst/>
          </a:prstGeom>
          <a:noFill/>
          <a:ln w="25400">
            <a:solidFill>
              <a:srgbClr val="B23A3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17220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· latency · spend/hour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quality score over time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request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42900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slow step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17220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alerted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YOU TRUST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like you test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481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with known right answers, including ones the system must refuse.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999232" y="2240280"/>
            <a:ext cx="265176" cy="914"/>
          </a:xfrm>
          <a:prstGeom prst="line">
            <a:avLst/>
          </a:prstGeom>
          <a:noFill/>
          <a:ln w="19050">
            <a:solidFill>
              <a:srgbClr val="1F7A7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91840" y="13258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886200" y="1481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first: real citations? any hype? Then an LLM judge for 'is every claim supported?'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33872" y="2240280"/>
            <a:ext cx="265176" cy="914"/>
          </a:xfrm>
          <a:prstGeom prst="line">
            <a:avLst/>
          </a:prstGeom>
          <a:noFill/>
          <a:ln w="19050">
            <a:solidFill>
              <a:srgbClr val="1F7A7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126480" y="13258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093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1481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baseline. Block any change that scores worse.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UNIT TESTING, FOR PROMPTS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pPr indent="0" marL="0">
              <a:buNone/>
            </a:pPr>
            <a:r>
              <a:rPr lang="en-US" sz="13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question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29184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</a:t>
            </a:r>
            <a:pPr indent="0" marL="0">
              <a:buNone/>
            </a:pPr>
            <a:r>
              <a:rPr lang="en-US" sz="13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12648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fails the build</a:t>
            </a:r>
            <a:pPr indent="0" marL="0">
              <a:buNone/>
            </a:pPr>
            <a:r>
              <a:rPr lang="en-US" sz="13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blocks the prompt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IT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903720" y="566928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0" y="5669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· 4.0–4.2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ENDPOINTS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6002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60020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/papers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16002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167128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216712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16712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/papers/{id}/ask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216712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JSON answer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2734056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273405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273405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/papers/{id}/explain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291840" y="273405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progress (SSE)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3300984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30098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330098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/me/usage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3291840" y="330098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calls, spend, budget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1280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 BECOMES A CLEAR ANSWER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937760" y="160020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937760" y="1600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715000" y="1600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API key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937760" y="205740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937760" y="2057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413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71500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too large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937760" y="251460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937760" y="2514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71500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PDF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937760" y="297180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937760" y="2971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71500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budget / too many requests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937760" y="342900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F8E5E3"/>
          </a:solidFill>
          <a:ln w="12700">
            <a:solidFill>
              <a:srgbClr val="F8E5E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937760" y="3429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5715000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down, try in a minute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key-alice  →  user "alice". At work: your SSO.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IT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1: never trust the file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903720" y="566928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0" y="5669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4.3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TELLS YOU IT'S A PDF?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filename: notes.pdf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16002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says so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167128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21671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application/pdf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21671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says so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734056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E4F2E9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27340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bytes: %PDF-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273405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itself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12801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00600" y="1389888"/>
            <a:ext cx="374904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validate_upload(data: bytes):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data.startswith(b"%PDF-"):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HTTPException(415, 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len(data) &gt; MAX_UPLOAD_MB * 2**20: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HTTPException(413, ...)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3200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4.3A TEST EXPECTS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34930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file named .pdf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0" y="34930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663440" y="3822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MB upload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863840" y="38221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663440" y="41513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API key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0" y="41513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3429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before you parse: a huge or broken file is exactly the work you want to avoid.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IT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ask, stream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903720" y="566928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0" y="5669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· 4.4–4.6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Upload twice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755648"/>
            <a:ext cx="23317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tinycoder.pdf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54fc7710abfa  processed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tinycoder_FINAL_v2.pdf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54fc7710abfa  already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processed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5661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hash of the content, not the name. Parse and pay once.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246120" y="1280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Ask over HTTP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46120" y="164592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83280" y="1755648"/>
            <a:ext cx="23317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{"answer": "...[c4]",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"citations": ["c4"],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"citations_valid":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"llm_calls": 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"cost_usd": 0.00031,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"answered_by": ["primary"]}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246120" y="35661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an X-Request-ID header. Keep it for Section 6.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1280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Stream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35040" y="164592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72200" y="1755648"/>
            <a:ext cx="23317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0.4s progress  started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0.9s progress  search_paper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1.0s progress  c4, c3, c6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2.8s answer  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2.8s done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35661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total time. The first event arrives in under a second.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output; yours will differ.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COST &amp; FAILURES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gateway: Day 1, now as config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903720" y="566928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0" y="5669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· 5.0–5.2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 llm_client.py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Retries + backoff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 num_retries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 timeout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 fallbacks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max_tokens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guard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per-user, every call (5.3)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request + trace (6.x)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max_retries=1 = one attempt. One retry layer.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02920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FORCE A FALLBACK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029200" y="160020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029200" y="1600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paper-explainer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086600" y="146304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F8E5E3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086600" y="1463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 ✗ 404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086600" y="233172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E4F2E9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086600" y="23317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 ✓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 flipV="1">
            <a:off x="6601968" y="1737360"/>
            <a:ext cx="457200" cy="45720"/>
          </a:xfrm>
          <a:prstGeom prst="line">
            <a:avLst/>
          </a:prstGeom>
          <a:noFill/>
          <a:ln w="19050">
            <a:solidFill>
              <a:srgbClr val="B23A3A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6601968" y="1965960"/>
            <a:ext cx="457200" cy="594360"/>
          </a:xfrm>
          <a:prstGeom prst="line">
            <a:avLst/>
          </a:prstGeom>
          <a:noFill/>
          <a:ln w="1905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029200" y="315468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166360" y="3264408"/>
            <a:ext cx="3383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answered_by: ["fallback"]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029200" y="3657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never knew. No restart: the next request used the new config.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COST &amp; FAILURES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budget on every call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903720" y="566928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0" y="5669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5.3–5.4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= SEVERAL MODEL CALLS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804672" cy="457200"/>
          </a:xfrm>
          <a:prstGeom prst="roundRect">
            <a:avLst>
              <a:gd name="adj" fmla="val 16000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60020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353312" y="1600200"/>
            <a:ext cx="804672" cy="457200"/>
          </a:xfrm>
          <a:prstGeom prst="roundRect">
            <a:avLst>
              <a:gd name="adj" fmla="val 16000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53312" y="160020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249424" y="1600200"/>
            <a:ext cx="8046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49424" y="160020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45536" y="1600200"/>
            <a:ext cx="804672" cy="457200"/>
          </a:xfrm>
          <a:prstGeom prst="roundRect">
            <a:avLst>
              <a:gd name="adj" fmla="val 16000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145536" y="160020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041648" y="1600200"/>
            <a:ext cx="804672" cy="457200"/>
          </a:xfrm>
          <a:prstGeom prst="roundRect">
            <a:avLst>
              <a:gd name="adj" fmla="val 16000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41648" y="160020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286000"/>
            <a:ext cx="4434840" cy="1874520"/>
          </a:xfrm>
          <a:prstGeom prst="roundRect">
            <a:avLst>
              <a:gd name="adj" fmla="val 3902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" y="2395728"/>
            <a:ext cx="416052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check_budget(user_id):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spent = SPEND[user_id]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budget = BUDGETS.get(user_id, DEFAULT)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spent &gt;= budget: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BudgetExceededError(...)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@before_model     # before EVERY model call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budget_guard(state, runtime): ...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212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BOB'S BUDGET: ABOUT 1.5 QUESTIONS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1645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212080" y="20299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2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0" y="2029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212080" y="241401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943600" y="24140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 budget used, resets at midnight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212080" y="292608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39496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Bob overshoots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394960" y="331012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 a call, cost known after it. So cap max_tokens on every call: the overshoot stays one small call.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COST &amp; FAILURES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spend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903720" y="566928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0" y="5669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· 5.5–5.6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ALICE: 3 REQUESTS / MINUTE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685800" cy="502920"/>
          </a:xfrm>
          <a:prstGeom prst="roundRect">
            <a:avLst>
              <a:gd name="adj" fmla="val 14545"/>
            </a:avLst>
          </a:prstGeom>
          <a:solidFill>
            <a:srgbClr val="E4F2E9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600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234440" y="1600200"/>
            <a:ext cx="685800" cy="502920"/>
          </a:xfrm>
          <a:prstGeom prst="roundRect">
            <a:avLst>
              <a:gd name="adj" fmla="val 14545"/>
            </a:avLst>
          </a:prstGeom>
          <a:solidFill>
            <a:srgbClr val="E4F2E9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1600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011680" y="1600200"/>
            <a:ext cx="685800" cy="502920"/>
          </a:xfrm>
          <a:prstGeom prst="roundRect">
            <a:avLst>
              <a:gd name="adj" fmla="val 14545"/>
            </a:avLst>
          </a:prstGeom>
          <a:solidFill>
            <a:srgbClr val="E4F2E9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11680" y="1600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88920" y="1600200"/>
            <a:ext cx="685800" cy="502920"/>
          </a:xfrm>
          <a:prstGeom prst="roundRect">
            <a:avLst>
              <a:gd name="adj" fmla="val 14545"/>
            </a:avLst>
          </a:prstGeom>
          <a:solidFill>
            <a:srgbClr val="F8E5E3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88920" y="1600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566160" y="1600200"/>
            <a:ext cx="685800" cy="502920"/>
          </a:xfrm>
          <a:prstGeom prst="roundRect">
            <a:avLst>
              <a:gd name="adj" fmla="val 14545"/>
            </a:avLst>
          </a:prstGeom>
          <a:solidFill>
            <a:srgbClr val="F8E5E3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66160" y="1600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Retry-After: 60   (your Day 1 client honours it)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GET /ME/USAGE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9718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081528"/>
            <a:ext cx="3749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{"user": "bob", "llm_calls": 4,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"spent_usd": 0.000242,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"budget_usd": 0.000189,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"remaining_usd": -0.000053}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1280160"/>
            <a:ext cx="3840480" cy="2880360"/>
          </a:xfrm>
          <a:prstGeom prst="roundRect">
            <a:avLst>
              <a:gd name="adj" fmla="val 254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0" y="1417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PRODUCTION: THE LITELLM PROXY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0" y="173736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166360" y="1847088"/>
            <a:ext cx="32004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/key/generate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{"user_id": "bob",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"max_budget": 5.0,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"budget_duration": "1d",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"rpm_limit": 10}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0" y="3154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virtual key per user. Postgres keeps spend, Redis keeps counters. Enforced on every call from every app, even scripts that skip our API.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IT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request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903720" y="566928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0" y="5669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· 6.0–6.1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4572000" cy="2834640"/>
          </a:xfrm>
          <a:prstGeom prst="roundRect">
            <a:avLst>
              <a:gd name="adj" fmla="val 258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389888"/>
            <a:ext cx="42976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{"request_id": "d77ca9f9",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"user": "alice",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"route": "POST /papers/54fc7710abfa/ask",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"status": 200,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"latency_ms": 2210,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"llm_calls": 2,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"input_tokens": 1834, "output_tokens": 162,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"cost_usd": 0.00037,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"answered_by": ["primary"]}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349240" y="12801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3212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→ one search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1691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header X-Request-ID matches request_id in the log.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49240" y="26974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8E5E3"/>
          </a:solidFill>
          <a:ln w="12700">
            <a:solidFill>
              <a:srgbClr val="F8E5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53212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out of general logs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532120" y="31089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question, the paper's text, the answer, personal data. Store those separately, with access control, only if you need them.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not sentences: a machine can search, count and alert on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IT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time go?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903720" y="566928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0" y="5669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· 6.2–6.3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25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/papers/{id}/ask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0" y="1371600"/>
            <a:ext cx="4855464" cy="2011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58784" y="13258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2950 ms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7099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agent.run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90518" y="1755648"/>
            <a:ext cx="4773168" cy="201168"/>
          </a:xfrm>
          <a:prstGeom prst="rect">
            <a:avLst/>
          </a:prstGeom>
          <a:solidFill>
            <a:srgbClr val="26324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09406" y="17099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2900 ms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0939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llm.call · 410 tokens · $0.0001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23437" y="2139696"/>
            <a:ext cx="1069848" cy="201168"/>
          </a:xfrm>
          <a:prstGeom prst="rect">
            <a:avLst/>
          </a:prstGeom>
          <a:solidFill>
            <a:srgbClr val="1F7A7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39005" y="20939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ms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24780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tool.search_paper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09744" y="2523744"/>
            <a:ext cx="2501798" cy="20116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57262" y="24780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1520 ms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862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 · c4, c3, c1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26203" y="2907792"/>
            <a:ext cx="2468880" cy="201168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340803" y="28620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ms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3246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llm.call · 1,420 tokens · $0.0003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328002" y="3291840"/>
            <a:ext cx="1152144" cy="201168"/>
          </a:xfrm>
          <a:prstGeom prst="rect">
            <a:avLst/>
          </a:prstGeom>
          <a:solidFill>
            <a:srgbClr val="1F7A7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525866" y="32461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ms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630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citation_check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488375" y="3675888"/>
            <a:ext cx="36576" cy="20116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570671" y="363016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once, choose where it goes later: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memory (today) → console → OTLP to Jaeger or Datadog. One line changes.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and scores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903720" y="566928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0" y="5669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· 7.0–7.3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GOLDEN SET: 8 QUESTIONS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" y="16002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TinyCoder's pass@1 vs the 7B baseline?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16002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05740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2057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attention mechanism does it use?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2057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51460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2514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main limitations?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566160" y="25146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97180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" y="2971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funded the project?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29718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42900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" y="34290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learning rate was used?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566160" y="34290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SCORERS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0" y="1600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valid_citations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766560" y="16002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635240" y="1600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stay 1.0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0" y="19293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cited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766560" y="192938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35240" y="19293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5029200" y="22585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right_section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766560" y="22585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635240" y="22585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0" y="25877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refused_correctly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766560" y="25877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7635240" y="25877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5029200" y="29169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hype_free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766560" y="29169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7635240" y="29169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5029200" y="3246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readability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766560" y="32461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35240" y="32461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easier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5029200" y="35753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faithful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6766560" y="357530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7635240" y="35753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JUDGE_V1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saves the averages, prompt version and model to baseline.json.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903720" y="566928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0" y="5669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7.4–7.5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389888"/>
            <a:ext cx="3931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metric, base in baseline.items():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allowed = TOLERANCE.get(metric, 0.10)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current[metric] &lt; base - allowed: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failures.append(metric)  # + values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88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Tolerance: answers wobble a little between runs. Zero tolerance for fake citations.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474720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3520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prompt: "friendly and conversational, no brackets or reference markers"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28016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valid_citations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right_section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refused_correctly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029200" y="342900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16636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BLOCKED: v2 can't ship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1.0 → 0.0 · right_section 0.83 → 0.0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903720" y="566928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0" y="5669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· C.1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920240" cy="3154680"/>
          </a:xfrm>
          <a:prstGeom prst="roundRect">
            <a:avLst>
              <a:gd name="adj" fmla="val 3810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444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on every endpoint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uploads by bytes and size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Hash: never process twice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long answers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886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errors, not stack traces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532888" y="1325880"/>
            <a:ext cx="1920240" cy="3154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670048" y="1444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2670048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gateway, one retry layer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670048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model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670048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checked every call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670048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on every call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2670048" y="3886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rate limits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08576" y="1325880"/>
            <a:ext cx="1920240" cy="3154680"/>
          </a:xfrm>
          <a:prstGeom prst="roundRect">
            <a:avLst>
              <a:gd name="adj" fmla="val 3810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45736" y="1444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745736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line per request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45736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id in every response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745736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across every step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745736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and cost per LLM span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745736" y="3886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spend, errors, latency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684264" y="1325880"/>
            <a:ext cx="1920240" cy="3154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21424" y="1444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821424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incl. refusals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821424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first, then a judge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821424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prompts and judges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821424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before every change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821424" y="3886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eval on real traffic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THIS WEEK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26324F"/>
          </a:solidFill>
          <a:ln w="12700">
            <a:solidFill>
              <a:srgbClr val="3A476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896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704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LLM client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8229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26324F"/>
          </a:solidFill>
          <a:ln w="12700">
            <a:solidFill>
              <a:srgbClr val="3A47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896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1704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with page citations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26324F"/>
          </a:solidFill>
          <a:ln w="12700">
            <a:solidFill>
              <a:srgbClr val="3A476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896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11704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memory, guards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8229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26324F"/>
          </a:solidFill>
          <a:ln w="12700">
            <a:solidFill>
              <a:srgbClr val="3A476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896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1704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you can run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 YOUR TEAM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3317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narrow task you can evaluate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6974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golden set before the prompt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0632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with budgets from day one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290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 or model change without the gate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947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put company data into a free-tier API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205740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26324F"/>
          </a:solidFill>
          <a:ln w="12700">
            <a:solidFill>
              <a:srgbClr val="3A476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24688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(E.1)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traces in Jaeger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LiteLLM proxy in Docker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golden set to 20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343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four great afternoons. Please answer the poll.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shop Day 4">
  <a:themeElements>
    <a:clrScheme name="Workshop Day 4">
      <a:dk1>
        <a:srgbClr val="1F2937"/>
      </a:dk1>
      <a:lt1>
        <a:srgbClr val="FFFFFF"/>
      </a:lt1>
      <a:dk2>
        <a:srgbClr val="1B2340"/>
      </a:dk2>
      <a:lt2>
        <a:srgbClr val="F7F8FA"/>
      </a:lt2>
      <a:accent1>
        <a:srgbClr val="1F7A7A"/>
      </a:accent1>
      <a:accent2>
        <a:srgbClr val="E0A23A"/>
      </a:accent2>
      <a:accent3>
        <a:srgbClr val="26324F"/>
      </a:accent3>
      <a:accent4>
        <a:srgbClr val="B23A3A"/>
      </a:accent4>
      <a:accent5>
        <a:srgbClr val="2E7D4F"/>
      </a:accent5>
      <a:accent6>
        <a:srgbClr val="C9D6EA"/>
      </a:accent6>
      <a:hlink>
        <a:srgbClr val="1F7A7A"/>
      </a:hlink>
      <a:folHlink>
        <a:srgbClr val="26324F"/>
      </a:folHlink>
    </a:clrScheme>
    <a:fontScheme name="Workshop Day 4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4 - Ship It</dc:title>
  <dc:subject>PptxGenJS Presentation</dc:subject>
  <dc:creator>Marimuthu Kaliraj</dc:creator>
  <cp:lastModifiedBy>Marimuthu Kaliraj</cp:lastModifiedBy>
  <cp:revision>1</cp:revision>
  <dcterms:created xsi:type="dcterms:W3CDTF">2026-10-08T10:56:48Z</dcterms:created>
  <dcterms:modified xsi:type="dcterms:W3CDTF">2026-10-08T10:56:48Z</dcterms:modified>
</cp:coreProperties>
</file>